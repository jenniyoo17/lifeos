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74" r:id="rId2"/>
    <p:sldId id="375" r:id="rId3"/>
    <p:sldId id="257" r:id="rId4"/>
    <p:sldId id="376" r:id="rId5"/>
    <p:sldId id="377" r:id="rId6"/>
    <p:sldId id="383" r:id="rId7"/>
    <p:sldId id="378" r:id="rId8"/>
    <p:sldId id="379" r:id="rId9"/>
    <p:sldId id="384" r:id="rId10"/>
    <p:sldId id="380" r:id="rId11"/>
    <p:sldId id="38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91" autoAdjust="0"/>
    <p:restoredTop sz="94660"/>
  </p:normalViewPr>
  <p:slideViewPr>
    <p:cSldViewPr snapToGrid="0">
      <p:cViewPr varScale="1">
        <p:scale>
          <a:sx n="85" d="100"/>
          <a:sy n="85" d="100"/>
        </p:scale>
        <p:origin x="36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761682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21077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08953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jenniyoo17/LifeOS"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137355" y="1633191"/>
            <a:ext cx="5284004" cy="5170646"/>
          </a:xfrm>
          <a:prstGeom prst="rect">
            <a:avLst/>
          </a:prstGeom>
          <a:noFill/>
        </p:spPr>
        <p:txBody>
          <a:bodyPr wrap="square">
            <a:spAutoFit/>
          </a:bodyPr>
          <a:lstStyle/>
          <a:p>
            <a:pPr algn="ctr"/>
            <a:r>
              <a:rPr lang="en-US" sz="4000" b="1" dirty="0" err="1">
                <a:solidFill>
                  <a:srgbClr val="E81B25"/>
                </a:solidFill>
                <a:latin typeface="Berlin Sans FB Demi" panose="020E0802020502020306" pitchFamily="34" charset="0"/>
                <a:ea typeface="SamsungOne 800" panose="020B0903030303020204" pitchFamily="34" charset="0"/>
              </a:rPr>
              <a:t>MSRIT_CrimsonLobster</a:t>
            </a:r>
            <a:endParaRPr lang="en-US" sz="4000" b="1" dirty="0">
              <a:solidFill>
                <a:srgbClr val="E81B25"/>
              </a:solidFill>
              <a:latin typeface="Berlin Sans FB Demi" panose="020E0802020502020306" pitchFamily="34" charset="0"/>
              <a:ea typeface="SamsungOne 800" panose="020B0903030303020204" pitchFamily="34" charset="0"/>
            </a:endParaRPr>
          </a:p>
          <a:p>
            <a:pPr algn="ctr"/>
            <a:r>
              <a:rPr lang="en-US" sz="3500" b="1" dirty="0" err="1">
                <a:solidFill>
                  <a:schemeClr val="accent5">
                    <a:lumMod val="75000"/>
                  </a:schemeClr>
                </a:solidFill>
                <a:latin typeface="Berlin Sans FB Demi" panose="020E0802020502020306" pitchFamily="34" charset="0"/>
                <a:ea typeface="SamsungOne 800" panose="020B0903030303020204" pitchFamily="34" charset="0"/>
              </a:rPr>
              <a:t>LifeOS</a:t>
            </a:r>
            <a:r>
              <a:rPr lang="en-US" sz="3500" b="1" dirty="0">
                <a:solidFill>
                  <a:schemeClr val="accent5">
                    <a:lumMod val="75000"/>
                  </a:schemeClr>
                </a:solidFill>
                <a:latin typeface="Berlin Sans FB Demi" panose="020E0802020502020306" pitchFamily="34" charset="0"/>
                <a:ea typeface="SamsungOne 800" panose="020B0903030303020204" pitchFamily="34" charset="0"/>
              </a:rPr>
              <a:t>: A privacy-first workspace that simplifies your daily reality into one clear perspective.</a:t>
            </a:r>
          </a:p>
          <a:p>
            <a:pPr algn="ctr"/>
            <a:endParaRPr lang="en-US" sz="4000" b="1" dirty="0">
              <a:solidFill>
                <a:srgbClr val="E81B25"/>
              </a:solidFill>
              <a:latin typeface="Berlin Sans FB Demi" panose="020E0802020502020306" pitchFamily="34" charset="0"/>
              <a:ea typeface="SamsungOne 800" panose="020B0903030303020204" pitchFamily="34" charset="0"/>
            </a:endParaRPr>
          </a:p>
          <a:p>
            <a:pPr algn="ctr"/>
            <a:r>
              <a:rPr lang="en-US" sz="3500" b="1" dirty="0" err="1">
                <a:solidFill>
                  <a:schemeClr val="tx2"/>
                </a:solidFill>
                <a:latin typeface="Berlin Sans FB Demi" panose="020E0802020502020306" pitchFamily="34" charset="0"/>
                <a:ea typeface="SamsungOne 800" panose="020B0903030303020204" pitchFamily="34" charset="0"/>
              </a:rPr>
              <a:t>Arpitha</a:t>
            </a:r>
            <a:r>
              <a:rPr lang="en-US" sz="3500" b="1" dirty="0">
                <a:solidFill>
                  <a:schemeClr val="tx2"/>
                </a:solidFill>
                <a:latin typeface="Berlin Sans FB Demi" panose="020E0802020502020306" pitchFamily="34" charset="0"/>
                <a:ea typeface="SamsungOne 800" panose="020B0903030303020204" pitchFamily="34" charset="0"/>
              </a:rPr>
              <a:t> C</a:t>
            </a:r>
            <a:br>
              <a:rPr lang="en-US" sz="3500" b="1" dirty="0">
                <a:solidFill>
                  <a:schemeClr val="tx2"/>
                </a:solidFill>
                <a:latin typeface="Berlin Sans FB Demi" panose="020E0802020502020306" pitchFamily="34" charset="0"/>
                <a:ea typeface="SamsungOne 800" panose="020B0903030303020204" pitchFamily="34" charset="0"/>
              </a:rPr>
            </a:br>
            <a:r>
              <a:rPr lang="en-US" sz="3500" b="1" dirty="0">
                <a:solidFill>
                  <a:schemeClr val="tx2"/>
                </a:solidFill>
                <a:latin typeface="Berlin Sans FB Demi" panose="020E0802020502020306" pitchFamily="34" charset="0"/>
                <a:ea typeface="SamsungOne 800" panose="020B0903030303020204" pitchFamily="34" charset="0"/>
              </a:rPr>
              <a:t>Jennifer Monteiro</a:t>
            </a: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232304" cy="3693319"/>
          </a:xfrm>
          <a:prstGeom prst="rect">
            <a:avLst/>
          </a:prstGeom>
          <a:noFill/>
        </p:spPr>
        <p:txBody>
          <a:bodyPr wrap="square" rtlCol="0">
            <a:spAutoFit/>
          </a:bodyPr>
          <a:lstStyle/>
          <a:p>
            <a:pPr marL="285750" indent="-285750">
              <a:buFont typeface="Arial" panose="020B0604020202020204" pitchFamily="34" charset="0"/>
              <a:buChar char="•"/>
            </a:pPr>
            <a:r>
              <a:rPr lang="en-GB" b="1" dirty="0"/>
              <a:t>Why this theme (On-device/Productivity):</a:t>
            </a:r>
            <a:r>
              <a:rPr lang="en-GB" dirty="0"/>
              <a:t> We chose this to prove that Generative AI can be a "silent partner" in productivity—automating the boring parts (like logging expenses) while keeping data strictly private and on-device.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The Problem:</a:t>
            </a:r>
            <a:r>
              <a:rPr lang="en-GB" dirty="0"/>
              <a:t> </a:t>
            </a:r>
            <a:r>
              <a:rPr lang="en-GB" b="1" dirty="0"/>
              <a:t>Digital Fragmentation.</a:t>
            </a:r>
            <a:r>
              <a:rPr lang="en-GB" dirty="0"/>
              <a:t> Most people use 3-4 different apps just to manage a single day (one for money, one for tasks, one for notes). This causes "context-switch fatigue."</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The Persona:</a:t>
            </a:r>
            <a:r>
              <a:rPr lang="en-GB" dirty="0"/>
              <a:t> The </a:t>
            </a:r>
            <a:r>
              <a:rPr lang="en-GB" b="1" dirty="0"/>
              <a:t>"Focused Student/Professional."</a:t>
            </a:r>
            <a:r>
              <a:rPr lang="en-GB" dirty="0"/>
              <a:t> Someone who is overwhelmed by complex features and just wants a clean slate to manage their top-of-mind priorities.</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Why it's important:</a:t>
            </a:r>
            <a:r>
              <a:rPr lang="en-GB" dirty="0"/>
              <a:t> Mental clarity is the ultimate productivity hack. By reducing the UI to a single command line, we help users get things out of their head and into a safe system in seconds.</a:t>
            </a:r>
          </a:p>
          <a:p>
            <a:endParaRPr lang="en-GB" dirty="0"/>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501245" cy="3416320"/>
          </a:xfrm>
          <a:prstGeom prst="rect">
            <a:avLst/>
          </a:prstGeom>
          <a:noFill/>
        </p:spPr>
        <p:txBody>
          <a:bodyPr wrap="square" rtlCol="0">
            <a:spAutoFit/>
          </a:bodyPr>
          <a:lstStyle/>
          <a:p>
            <a:pPr marL="285750" indent="-285750">
              <a:buFont typeface="Wingdings" panose="05000000000000000000" pitchFamily="2" charset="2"/>
              <a:buChar char="Ø"/>
            </a:pPr>
            <a:r>
              <a:rPr lang="en-GB" b="1" dirty="0"/>
              <a:t>Existing solutions (if any):</a:t>
            </a:r>
            <a:br>
              <a:rPr lang="en-GB" dirty="0"/>
            </a:br>
            <a:r>
              <a:rPr lang="en-GB" dirty="0"/>
              <a:t>Standard apps like </a:t>
            </a:r>
            <a:r>
              <a:rPr lang="en-GB" b="1" dirty="0" err="1"/>
              <a:t>Todoist</a:t>
            </a:r>
            <a:r>
              <a:rPr lang="en-GB" dirty="0"/>
              <a:t> (for tasks), </a:t>
            </a:r>
            <a:r>
              <a:rPr lang="en-GB" b="1" dirty="0"/>
              <a:t>Notion</a:t>
            </a:r>
            <a:r>
              <a:rPr lang="en-GB" dirty="0"/>
              <a:t> (for notes), and </a:t>
            </a:r>
            <a:r>
              <a:rPr lang="en-GB" b="1" dirty="0" err="1"/>
              <a:t>Splitwise</a:t>
            </a:r>
            <a:r>
              <a:rPr lang="en-GB" b="1" dirty="0"/>
              <a:t>/</a:t>
            </a:r>
            <a:r>
              <a:rPr lang="en-GB" b="1" dirty="0" err="1"/>
              <a:t>Monefy</a:t>
            </a:r>
            <a:r>
              <a:rPr lang="en-GB" dirty="0"/>
              <a:t> (for expenses).</a:t>
            </a:r>
          </a:p>
          <a:p>
            <a:pPr marL="285750" indent="-285750">
              <a:buFont typeface="Wingdings" panose="05000000000000000000" pitchFamily="2" charset="2"/>
              <a:buChar char="Ø"/>
            </a:pPr>
            <a:endParaRPr lang="en-GB" b="1" dirty="0"/>
          </a:p>
          <a:p>
            <a:pPr marL="285750" indent="-285750">
              <a:buFont typeface="Wingdings" panose="05000000000000000000" pitchFamily="2" charset="2"/>
              <a:buChar char="Ø"/>
            </a:pPr>
            <a:r>
              <a:rPr lang="en-GB" b="1" dirty="0"/>
              <a:t>What’s missing/broken?</a:t>
            </a:r>
            <a:br>
              <a:rPr lang="en-GB" dirty="0"/>
            </a:br>
            <a:r>
              <a:rPr lang="en-GB" dirty="0"/>
              <a:t>These solutions are </a:t>
            </a:r>
            <a:r>
              <a:rPr lang="en-GB" b="1" dirty="0"/>
              <a:t>silos</a:t>
            </a:r>
            <a:r>
              <a:rPr lang="en-GB" dirty="0"/>
              <a:t>. They don't talk to each other. They require constant manual data entry and often sell user </a:t>
            </a:r>
            <a:r>
              <a:rPr lang="en-GB" dirty="0" err="1"/>
              <a:t>behavior</a:t>
            </a:r>
            <a:r>
              <a:rPr lang="en-GB" dirty="0"/>
              <a:t> data. They are designed for "power users," which leaves normal people feeling overwhelmed by "feature bloat."</a:t>
            </a:r>
          </a:p>
          <a:p>
            <a:pPr marL="285750" indent="-285750">
              <a:buFont typeface="Wingdings" panose="05000000000000000000" pitchFamily="2" charset="2"/>
              <a:buChar char="Ø"/>
            </a:pPr>
            <a:endParaRPr lang="en-GB" b="1" dirty="0"/>
          </a:p>
          <a:p>
            <a:pPr marL="285750" indent="-285750">
              <a:buFont typeface="Wingdings" panose="05000000000000000000" pitchFamily="2" charset="2"/>
              <a:buChar char="Ø"/>
            </a:pPr>
            <a:r>
              <a:rPr lang="en-GB" b="1" dirty="0"/>
              <a:t>Opportunity:</a:t>
            </a:r>
            <a:br>
              <a:rPr lang="en-GB" dirty="0"/>
            </a:br>
            <a:r>
              <a:rPr lang="en-GB" dirty="0"/>
              <a:t>The opportunity is in "Zero-Friction Logging." With the power of </a:t>
            </a:r>
            <a:r>
              <a:rPr lang="en-GB" b="1" dirty="0"/>
              <a:t>Llama 3.3 via </a:t>
            </a:r>
            <a:r>
              <a:rPr lang="en-GB" b="1" dirty="0" err="1"/>
              <a:t>Groq</a:t>
            </a:r>
            <a:r>
              <a:rPr lang="en-GB" dirty="0"/>
              <a:t>, we can turn a casual sentence into a structured memory. This is the transition from a "Database" to a "Living Memory" — a tool that feels more like a teammate and less like a chore.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Your Solutions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752257" cy="4247317"/>
          </a:xfrm>
          <a:prstGeom prst="rect">
            <a:avLst/>
          </a:prstGeom>
          <a:noFill/>
        </p:spPr>
        <p:txBody>
          <a:bodyPr wrap="square" rtlCol="0">
            <a:spAutoFit/>
          </a:bodyPr>
          <a:lstStyle/>
          <a:p>
            <a:pPr marL="285750" indent="-285750">
              <a:buFont typeface="Courier New" panose="02070309020205020404" pitchFamily="49" charset="0"/>
              <a:buChar char="o"/>
            </a:pPr>
            <a:r>
              <a:rPr lang="en-GB" b="1" dirty="0"/>
              <a:t>What we built:</a:t>
            </a:r>
            <a:r>
              <a:rPr lang="en-GB" dirty="0"/>
              <a:t> </a:t>
            </a:r>
            <a:r>
              <a:rPr lang="en-GB" dirty="0" err="1"/>
              <a:t>LifeOS</a:t>
            </a:r>
            <a:r>
              <a:rPr lang="en-GB" dirty="0"/>
              <a:t> — an AI-powered Android productivity app featuring a smart assistant, task manager, voice input, and smart reminders.</a:t>
            </a:r>
          </a:p>
          <a:p>
            <a:pPr marL="285750" indent="-285750">
              <a:buFont typeface="Courier New" panose="02070309020205020404" pitchFamily="49" charset="0"/>
              <a:buChar char="o"/>
            </a:pPr>
            <a:endParaRPr lang="en-GB" b="1" dirty="0"/>
          </a:p>
          <a:p>
            <a:pPr marL="285750" indent="-285750">
              <a:buFont typeface="Courier New" panose="02070309020205020404" pitchFamily="49" charset="0"/>
              <a:buChar char="o"/>
            </a:pPr>
            <a:r>
              <a:rPr lang="en-GB" b="1" dirty="0"/>
              <a:t>Core Ideas Explanation:</a:t>
            </a:r>
            <a:endParaRPr lang="en-GB" dirty="0"/>
          </a:p>
          <a:p>
            <a:pPr marL="742950" lvl="1" indent="-285750">
              <a:buFont typeface="Wingdings" panose="05000000000000000000" pitchFamily="2" charset="2"/>
              <a:buChar char="§"/>
            </a:pPr>
            <a:r>
              <a:rPr lang="en-GB" b="1" dirty="0"/>
              <a:t>Assistant-First Entry:</a:t>
            </a:r>
            <a:r>
              <a:rPr lang="en-GB" dirty="0"/>
              <a:t> No forms. Just type/speak "I spent ₹200 on books" and it's filed.</a:t>
            </a:r>
          </a:p>
          <a:p>
            <a:pPr marL="742950" lvl="1" indent="-285750">
              <a:buFont typeface="Wingdings" panose="05000000000000000000" pitchFamily="2" charset="2"/>
              <a:buChar char="§"/>
            </a:pPr>
            <a:r>
              <a:rPr lang="en-GB" b="1" dirty="0"/>
              <a:t>Local-First Privacy:</a:t>
            </a:r>
            <a:r>
              <a:rPr lang="en-GB" dirty="0"/>
              <a:t> Data is treated as "Memory" rather than "Data," ensuring the user feels safe.</a:t>
            </a:r>
          </a:p>
          <a:p>
            <a:pPr marL="742950" lvl="1" indent="-285750">
              <a:buFont typeface="Wingdings" panose="05000000000000000000" pitchFamily="2" charset="2"/>
              <a:buChar char="§"/>
            </a:pPr>
            <a:r>
              <a:rPr lang="en-GB" b="1" dirty="0"/>
              <a:t>Adaptive Context:</a:t>
            </a:r>
            <a:r>
              <a:rPr lang="en-GB" dirty="0"/>
              <a:t> The app changes its "vibe" and focus based on whether you are in Academic or Personal mode.</a:t>
            </a:r>
          </a:p>
          <a:p>
            <a:pPr marL="285750" indent="-285750">
              <a:buFont typeface="Courier New" panose="02070309020205020404" pitchFamily="49" charset="0"/>
              <a:buChar char="o"/>
            </a:pPr>
            <a:endParaRPr lang="en-GB" b="1" dirty="0"/>
          </a:p>
          <a:p>
            <a:pPr marL="285750" indent="-285750">
              <a:buFont typeface="Courier New" panose="02070309020205020404" pitchFamily="49" charset="0"/>
              <a:buChar char="o"/>
            </a:pPr>
            <a:r>
              <a:rPr lang="en-GB" b="1" dirty="0"/>
              <a:t>Key Features:</a:t>
            </a:r>
            <a:endParaRPr lang="en-GB" dirty="0"/>
          </a:p>
          <a:p>
            <a:pPr marL="742950" lvl="1" indent="-285750">
              <a:buFont typeface="Arial" panose="020B0604020202020204" pitchFamily="34" charset="0"/>
              <a:buChar char="•"/>
            </a:pPr>
            <a:r>
              <a:rPr lang="en-GB" b="1" dirty="0"/>
              <a:t>Smart Neural Assistant</a:t>
            </a:r>
            <a:r>
              <a:rPr lang="en-GB" dirty="0"/>
              <a:t>: Instantly parses natural language into tasks and reminders via Llama 3.3 (</a:t>
            </a:r>
            <a:r>
              <a:rPr lang="en-GB" dirty="0" err="1"/>
              <a:t>Groq</a:t>
            </a:r>
            <a:r>
              <a:rPr lang="en-GB" dirty="0"/>
              <a:t>)</a:t>
            </a:r>
          </a:p>
          <a:p>
            <a:pPr marL="742950" lvl="1" indent="-285750">
              <a:buFont typeface="Arial" panose="020B0604020202020204" pitchFamily="34" charset="0"/>
              <a:buChar char="•"/>
            </a:pPr>
            <a:r>
              <a:rPr lang="en-GB" b="1" dirty="0"/>
              <a:t>Memory Diary:</a:t>
            </a:r>
            <a:r>
              <a:rPr lang="en-GB" dirty="0"/>
              <a:t> Add, edit, delete tasks by category — Pending or Done</a:t>
            </a:r>
          </a:p>
          <a:p>
            <a:pPr marL="742950" lvl="1" indent="-285750">
              <a:buFont typeface="Arial" panose="020B0604020202020204" pitchFamily="34" charset="0"/>
              <a:buChar char="•"/>
            </a:pPr>
            <a:r>
              <a:rPr lang="en-GB" b="1" dirty="0"/>
              <a:t>Voice Input &amp; TTS:</a:t>
            </a:r>
            <a:r>
              <a:rPr lang="en-GB" dirty="0"/>
              <a:t> Speak tasks hands-free, app reads responses aloud</a:t>
            </a:r>
          </a:p>
          <a:p>
            <a:pPr marL="742950" lvl="1" indent="-285750">
              <a:buFont typeface="Arial" panose="020B0604020202020204" pitchFamily="34" charset="0"/>
              <a:buChar char="•"/>
            </a:pPr>
            <a:r>
              <a:rPr lang="en-GB" b="1" dirty="0"/>
              <a:t>Smart Reminders:</a:t>
            </a:r>
            <a:r>
              <a:rPr lang="en-GB" dirty="0"/>
              <a:t> Set alarms via chat or time picker, fires as push notification</a:t>
            </a:r>
            <a:br>
              <a:rPr lang="en-GB" dirty="0"/>
            </a:br>
            <a:endParaRPr lang="en-IN" dirty="0"/>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005C1E9D-1F98-4CDB-8C10-EACE322B205B}"/>
              </a:ext>
            </a:extLst>
          </p:cNvPr>
          <p:cNvSpPr txBox="1"/>
          <p:nvPr/>
        </p:nvSpPr>
        <p:spPr>
          <a:xfrm>
            <a:off x="6670071" y="4145654"/>
            <a:ext cx="2760030" cy="369332"/>
          </a:xfrm>
          <a:prstGeom prst="rect">
            <a:avLst/>
          </a:prstGeom>
          <a:noFill/>
        </p:spPr>
        <p:txBody>
          <a:bodyPr wrap="square" rtlCol="0">
            <a:spAutoFit/>
          </a:bodyPr>
          <a:lstStyle/>
          <a:p>
            <a:endParaRPr lang="en-IN" dirty="0"/>
          </a:p>
        </p:txBody>
      </p:sp>
      <p:pic>
        <p:nvPicPr>
          <p:cNvPr id="20" name="Picture 19">
            <a:extLst>
              <a:ext uri="{FF2B5EF4-FFF2-40B4-BE49-F238E27FC236}">
                <a16:creationId xmlns:a16="http://schemas.microsoft.com/office/drawing/2014/main" id="{003FDB33-4F03-4A9B-B654-BA2446EE0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806" y="1928600"/>
            <a:ext cx="1809383" cy="4020850"/>
          </a:xfrm>
          <a:prstGeom prst="rect">
            <a:avLst/>
          </a:prstGeom>
        </p:spPr>
      </p:pic>
      <p:pic>
        <p:nvPicPr>
          <p:cNvPr id="22" name="Picture 21">
            <a:extLst>
              <a:ext uri="{FF2B5EF4-FFF2-40B4-BE49-F238E27FC236}">
                <a16:creationId xmlns:a16="http://schemas.microsoft.com/office/drawing/2014/main" id="{94EC75AD-81F1-466A-B2E5-6E2C1A0662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6229" y="1986315"/>
            <a:ext cx="1780828" cy="3957395"/>
          </a:xfrm>
          <a:prstGeom prst="rect">
            <a:avLst/>
          </a:prstGeom>
        </p:spPr>
      </p:pic>
      <p:pic>
        <p:nvPicPr>
          <p:cNvPr id="24" name="Picture 23">
            <a:extLst>
              <a:ext uri="{FF2B5EF4-FFF2-40B4-BE49-F238E27FC236}">
                <a16:creationId xmlns:a16="http://schemas.microsoft.com/office/drawing/2014/main" id="{EDB47609-D90F-4EE1-8F0C-D92D7A6FAB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37678" y="1983711"/>
            <a:ext cx="1808092" cy="4017981"/>
          </a:xfrm>
          <a:prstGeom prst="rect">
            <a:avLst/>
          </a:prstGeom>
        </p:spPr>
      </p:pic>
      <p:pic>
        <p:nvPicPr>
          <p:cNvPr id="26" name="Picture 25">
            <a:extLst>
              <a:ext uri="{FF2B5EF4-FFF2-40B4-BE49-F238E27FC236}">
                <a16:creationId xmlns:a16="http://schemas.microsoft.com/office/drawing/2014/main" id="{A76670D9-6ADE-4A20-940D-C066816836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96063" y="1970451"/>
            <a:ext cx="1795105" cy="3989122"/>
          </a:xfrm>
          <a:prstGeom prst="rect">
            <a:avLst/>
          </a:prstGeom>
        </p:spPr>
      </p:pic>
      <p:pic>
        <p:nvPicPr>
          <p:cNvPr id="28" name="Picture 27">
            <a:extLst>
              <a:ext uri="{FF2B5EF4-FFF2-40B4-BE49-F238E27FC236}">
                <a16:creationId xmlns:a16="http://schemas.microsoft.com/office/drawing/2014/main" id="{423E83E8-CDA0-4C33-A045-7B221758E6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7960" y="1938723"/>
            <a:ext cx="1813938" cy="4030973"/>
          </a:xfrm>
          <a:prstGeom prst="rect">
            <a:avLst/>
          </a:prstGeom>
        </p:spPr>
      </p:pic>
    </p:spTree>
    <p:extLst>
      <p:ext uri="{BB962C8B-B14F-4D97-AF65-F5344CB8AC3E}">
        <p14:creationId xmlns:p14="http://schemas.microsoft.com/office/powerpoint/2010/main" val="45296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369332"/>
          </a:xfrm>
          <a:prstGeom prst="rect">
            <a:avLst/>
          </a:prstGeom>
          <a:noFill/>
        </p:spPr>
        <p:txBody>
          <a:bodyPr wrap="square" rtlCol="0">
            <a:spAutoFit/>
          </a:bodyPr>
          <a:lstStyle/>
          <a:p>
            <a:endParaRPr lang="en-IN" dirty="0"/>
          </a:p>
        </p:txBody>
      </p:sp>
      <p:sp>
        <p:nvSpPr>
          <p:cNvPr id="10" name="TextBox 9">
            <a:extLst>
              <a:ext uri="{FF2B5EF4-FFF2-40B4-BE49-F238E27FC236}">
                <a16:creationId xmlns:a16="http://schemas.microsoft.com/office/drawing/2014/main" id="{005C1E9D-1F98-4CDB-8C10-EACE322B205B}"/>
              </a:ext>
            </a:extLst>
          </p:cNvPr>
          <p:cNvSpPr txBox="1"/>
          <p:nvPr/>
        </p:nvSpPr>
        <p:spPr>
          <a:xfrm>
            <a:off x="6670071" y="4145654"/>
            <a:ext cx="2760030" cy="369332"/>
          </a:xfrm>
          <a:prstGeom prst="rect">
            <a:avLst/>
          </a:prstGeom>
          <a:noFill/>
        </p:spPr>
        <p:txBody>
          <a:bodyPr wrap="square" rtlCol="0">
            <a:spAutoFit/>
          </a:bodyPr>
          <a:lstStyle/>
          <a:p>
            <a:endParaRPr lang="en-IN" dirty="0"/>
          </a:p>
        </p:txBody>
      </p:sp>
      <p:graphicFrame>
        <p:nvGraphicFramePr>
          <p:cNvPr id="6" name="Table 5">
            <a:extLst>
              <a:ext uri="{FF2B5EF4-FFF2-40B4-BE49-F238E27FC236}">
                <a16:creationId xmlns:a16="http://schemas.microsoft.com/office/drawing/2014/main" id="{82DA04EA-E609-44F9-84E6-57C5258C427A}"/>
              </a:ext>
            </a:extLst>
          </p:cNvPr>
          <p:cNvGraphicFramePr>
            <a:graphicFrameLocks noGrp="1"/>
          </p:cNvGraphicFramePr>
          <p:nvPr>
            <p:extLst>
              <p:ext uri="{D42A27DB-BD31-4B8C-83A1-F6EECF244321}">
                <p14:modId xmlns:p14="http://schemas.microsoft.com/office/powerpoint/2010/main" val="2962234052"/>
              </p:ext>
            </p:extLst>
          </p:nvPr>
        </p:nvGraphicFramePr>
        <p:xfrm>
          <a:off x="457200" y="1791494"/>
          <a:ext cx="10515600" cy="4114800"/>
        </p:xfrm>
        <a:graphic>
          <a:graphicData uri="http://schemas.openxmlformats.org/drawingml/2006/table">
            <a:tbl>
              <a:tblPr/>
              <a:tblGrid>
                <a:gridCol w="3505200">
                  <a:extLst>
                    <a:ext uri="{9D8B030D-6E8A-4147-A177-3AD203B41FA5}">
                      <a16:colId xmlns:a16="http://schemas.microsoft.com/office/drawing/2014/main" val="2668199327"/>
                    </a:ext>
                  </a:extLst>
                </a:gridCol>
                <a:gridCol w="3505200">
                  <a:extLst>
                    <a:ext uri="{9D8B030D-6E8A-4147-A177-3AD203B41FA5}">
                      <a16:colId xmlns:a16="http://schemas.microsoft.com/office/drawing/2014/main" val="2140688688"/>
                    </a:ext>
                  </a:extLst>
                </a:gridCol>
                <a:gridCol w="3505200">
                  <a:extLst>
                    <a:ext uri="{9D8B030D-6E8A-4147-A177-3AD203B41FA5}">
                      <a16:colId xmlns:a16="http://schemas.microsoft.com/office/drawing/2014/main" val="519415409"/>
                    </a:ext>
                  </a:extLst>
                </a:gridCol>
              </a:tblGrid>
              <a:tr h="0">
                <a:tc>
                  <a:txBody>
                    <a:bodyPr/>
                    <a:lstStyle/>
                    <a:p>
                      <a:r>
                        <a:rPr lang="en-IN"/>
                        <a:t>Screen/Flow</a:t>
                      </a:r>
                    </a:p>
                  </a:txBody>
                  <a:tcPr anchor="ctr">
                    <a:lnL>
                      <a:noFill/>
                    </a:lnL>
                    <a:lnR>
                      <a:noFill/>
                    </a:lnR>
                    <a:lnT>
                      <a:noFill/>
                    </a:lnT>
                    <a:lnB>
                      <a:noFill/>
                    </a:lnB>
                  </a:tcPr>
                </a:tc>
                <a:tc>
                  <a:txBody>
                    <a:bodyPr/>
                    <a:lstStyle/>
                    <a:p>
                      <a:r>
                        <a:rPr lang="en-IN"/>
                        <a:t>How User Interacts</a:t>
                      </a:r>
                    </a:p>
                  </a:txBody>
                  <a:tcPr anchor="ctr">
                    <a:lnL>
                      <a:noFill/>
                    </a:lnL>
                    <a:lnR>
                      <a:noFill/>
                    </a:lnR>
                    <a:lnT>
                      <a:noFill/>
                    </a:lnT>
                    <a:lnB>
                      <a:noFill/>
                    </a:lnB>
                  </a:tcPr>
                </a:tc>
                <a:tc>
                  <a:txBody>
                    <a:bodyPr/>
                    <a:lstStyle/>
                    <a:p>
                      <a:r>
                        <a:rPr lang="en-IN"/>
                        <a:t>Key Moments</a:t>
                      </a:r>
                    </a:p>
                  </a:txBody>
                  <a:tcPr anchor="ctr">
                    <a:lnL>
                      <a:noFill/>
                    </a:lnL>
                    <a:lnR>
                      <a:noFill/>
                    </a:lnR>
                    <a:lnT>
                      <a:noFill/>
                    </a:lnT>
                    <a:lnB>
                      <a:noFill/>
                    </a:lnB>
                  </a:tcPr>
                </a:tc>
                <a:extLst>
                  <a:ext uri="{0D108BD9-81ED-4DB2-BD59-A6C34878D82A}">
                    <a16:rowId xmlns:a16="http://schemas.microsoft.com/office/drawing/2014/main" val="3426368221"/>
                  </a:ext>
                </a:extLst>
              </a:tr>
              <a:tr h="0">
                <a:tc>
                  <a:txBody>
                    <a:bodyPr/>
                    <a:lstStyle/>
                    <a:p>
                      <a:r>
                        <a:rPr lang="en-IN"/>
                        <a:t>Home Screen</a:t>
                      </a:r>
                    </a:p>
                  </a:txBody>
                  <a:tcPr anchor="ctr">
                    <a:lnL>
                      <a:noFill/>
                    </a:lnL>
                    <a:lnR>
                      <a:noFill/>
                    </a:lnR>
                    <a:lnT>
                      <a:noFill/>
                    </a:lnT>
                    <a:lnB>
                      <a:noFill/>
                    </a:lnB>
                  </a:tcPr>
                </a:tc>
                <a:tc>
                  <a:txBody>
                    <a:bodyPr/>
                    <a:lstStyle/>
                    <a:p>
                      <a:r>
                        <a:rPr lang="en-GB"/>
                        <a:t>Opens app, sees dashboard with Pending, Done, Total counts</a:t>
                      </a:r>
                    </a:p>
                  </a:txBody>
                  <a:tcPr anchor="ctr">
                    <a:lnL>
                      <a:noFill/>
                    </a:lnL>
                    <a:lnR>
                      <a:noFill/>
                    </a:lnR>
                    <a:lnT>
                      <a:noFill/>
                    </a:lnT>
                    <a:lnB>
                      <a:noFill/>
                    </a:lnB>
                  </a:tcPr>
                </a:tc>
                <a:tc>
                  <a:txBody>
                    <a:bodyPr/>
                    <a:lstStyle/>
                    <a:p>
                      <a:r>
                        <a:rPr lang="en-GB"/>
                        <a:t>Morning briefing: "Welcome to LifeOS ☀️ Stay productive today"</a:t>
                      </a:r>
                    </a:p>
                  </a:txBody>
                  <a:tcPr anchor="ctr">
                    <a:lnL>
                      <a:noFill/>
                    </a:lnL>
                    <a:lnR>
                      <a:noFill/>
                    </a:lnR>
                    <a:lnT>
                      <a:noFill/>
                    </a:lnT>
                    <a:lnB>
                      <a:noFill/>
                    </a:lnB>
                  </a:tcPr>
                </a:tc>
                <a:extLst>
                  <a:ext uri="{0D108BD9-81ED-4DB2-BD59-A6C34878D82A}">
                    <a16:rowId xmlns:a16="http://schemas.microsoft.com/office/drawing/2014/main" val="1515286625"/>
                  </a:ext>
                </a:extLst>
              </a:tr>
              <a:tr h="0">
                <a:tc>
                  <a:txBody>
                    <a:bodyPr/>
                    <a:lstStyle/>
                    <a:p>
                      <a:r>
                        <a:rPr lang="en-IN"/>
                        <a:t>AI Chat — Reminder</a:t>
                      </a:r>
                    </a:p>
                  </a:txBody>
                  <a:tcPr anchor="ctr">
                    <a:lnL>
                      <a:noFill/>
                    </a:lnL>
                    <a:lnR>
                      <a:noFill/>
                    </a:lnR>
                    <a:lnT>
                      <a:noFill/>
                    </a:lnT>
                    <a:lnB>
                      <a:noFill/>
                    </a:lnB>
                  </a:tcPr>
                </a:tc>
                <a:tc>
                  <a:txBody>
                    <a:bodyPr/>
                    <a:lstStyle/>
                    <a:p>
                      <a:r>
                        <a:rPr lang="en-GB"/>
                        <a:t>Types "I feel tired", then types "Set a reminder for tomorrow morning to go to school" → taps Send to AI</a:t>
                      </a:r>
                    </a:p>
                  </a:txBody>
                  <a:tcPr anchor="ctr">
                    <a:lnL>
                      <a:noFill/>
                    </a:lnL>
                    <a:lnR>
                      <a:noFill/>
                    </a:lnR>
                    <a:lnT>
                      <a:noFill/>
                    </a:lnT>
                    <a:lnB>
                      <a:noFill/>
                    </a:lnB>
                  </a:tcPr>
                </a:tc>
                <a:tc>
                  <a:txBody>
                    <a:bodyPr/>
                    <a:lstStyle/>
                    <a:p>
                      <a:r>
                        <a:rPr lang="en-IN"/>
                        <a:t>AI parses intent and auto-sets reminder at 08:00</a:t>
                      </a:r>
                    </a:p>
                  </a:txBody>
                  <a:tcPr anchor="ctr">
                    <a:lnL>
                      <a:noFill/>
                    </a:lnL>
                    <a:lnR>
                      <a:noFill/>
                    </a:lnR>
                    <a:lnT>
                      <a:noFill/>
                    </a:lnT>
                    <a:lnB>
                      <a:noFill/>
                    </a:lnB>
                  </a:tcPr>
                </a:tc>
                <a:extLst>
                  <a:ext uri="{0D108BD9-81ED-4DB2-BD59-A6C34878D82A}">
                    <a16:rowId xmlns:a16="http://schemas.microsoft.com/office/drawing/2014/main" val="285107043"/>
                  </a:ext>
                </a:extLst>
              </a:tr>
              <a:tr h="0">
                <a:tc>
                  <a:txBody>
                    <a:bodyPr/>
                    <a:lstStyle/>
                    <a:p>
                      <a:r>
                        <a:rPr lang="en-IN"/>
                        <a:t>Voice Input</a:t>
                      </a:r>
                    </a:p>
                  </a:txBody>
                  <a:tcPr anchor="ctr">
                    <a:lnL>
                      <a:noFill/>
                    </a:lnL>
                    <a:lnR>
                      <a:noFill/>
                    </a:lnR>
                    <a:lnT>
                      <a:noFill/>
                    </a:lnT>
                    <a:lnB>
                      <a:noFill/>
                    </a:lnB>
                  </a:tcPr>
                </a:tc>
                <a:tc>
                  <a:txBody>
                    <a:bodyPr/>
                    <a:lstStyle/>
                    <a:p>
                      <a:r>
                        <a:rPr lang="en-GB"/>
                        <a:t>Taps mic button → Google Speech activates → speaks naturally</a:t>
                      </a:r>
                    </a:p>
                  </a:txBody>
                  <a:tcPr anchor="ctr">
                    <a:lnL>
                      <a:noFill/>
                    </a:lnL>
                    <a:lnR>
                      <a:noFill/>
                    </a:lnR>
                    <a:lnT>
                      <a:noFill/>
                    </a:lnT>
                    <a:lnB>
                      <a:noFill/>
                    </a:lnB>
                  </a:tcPr>
                </a:tc>
                <a:tc>
                  <a:txBody>
                    <a:bodyPr/>
                    <a:lstStyle/>
                    <a:p>
                      <a:r>
                        <a:rPr lang="en-GB"/>
                        <a:t>Speech converts to text and fills the input field</a:t>
                      </a:r>
                    </a:p>
                  </a:txBody>
                  <a:tcPr anchor="ctr">
                    <a:lnL>
                      <a:noFill/>
                    </a:lnL>
                    <a:lnR>
                      <a:noFill/>
                    </a:lnR>
                    <a:lnT>
                      <a:noFill/>
                    </a:lnT>
                    <a:lnB>
                      <a:noFill/>
                    </a:lnB>
                  </a:tcPr>
                </a:tc>
                <a:extLst>
                  <a:ext uri="{0D108BD9-81ED-4DB2-BD59-A6C34878D82A}">
                    <a16:rowId xmlns:a16="http://schemas.microsoft.com/office/drawing/2014/main" val="1817352783"/>
                  </a:ext>
                </a:extLst>
              </a:tr>
              <a:tr h="0">
                <a:tc>
                  <a:txBody>
                    <a:bodyPr/>
                    <a:lstStyle/>
                    <a:p>
                      <a:r>
                        <a:rPr lang="en-IN"/>
                        <a:t>Memory Diary</a:t>
                      </a:r>
                    </a:p>
                  </a:txBody>
                  <a:tcPr anchor="ctr">
                    <a:lnL>
                      <a:noFill/>
                    </a:lnL>
                    <a:lnR>
                      <a:noFill/>
                    </a:lnR>
                    <a:lnT>
                      <a:noFill/>
                    </a:lnT>
                    <a:lnB>
                      <a:noFill/>
                    </a:lnB>
                  </a:tcPr>
                </a:tc>
                <a:tc>
                  <a:txBody>
                    <a:bodyPr/>
                    <a:lstStyle/>
                    <a:p>
                      <a:r>
                        <a:rPr lang="en-GB"/>
                        <a:t>Taps Diary → sees Pending and Completed sections with categories</a:t>
                      </a:r>
                    </a:p>
                  </a:txBody>
                  <a:tcPr anchor="ctr">
                    <a:lnL>
                      <a:noFill/>
                    </a:lnL>
                    <a:lnR>
                      <a:noFill/>
                    </a:lnR>
                    <a:lnT>
                      <a:noFill/>
                    </a:lnT>
                    <a:lnB>
                      <a:noFill/>
                    </a:lnB>
                  </a:tcPr>
                </a:tc>
                <a:tc>
                  <a:txBody>
                    <a:bodyPr/>
                    <a:lstStyle/>
                    <a:p>
                      <a:r>
                        <a:rPr lang="en-GB"/>
                        <a:t>Categories: Personal, Work, Study, Health, Finance, Goals. Tap to edit, long press to delete</a:t>
                      </a:r>
                    </a:p>
                  </a:txBody>
                  <a:tcPr anchor="ctr">
                    <a:lnL>
                      <a:noFill/>
                    </a:lnL>
                    <a:lnR>
                      <a:noFill/>
                    </a:lnR>
                    <a:lnT>
                      <a:noFill/>
                    </a:lnT>
                    <a:lnB>
                      <a:noFill/>
                    </a:lnB>
                  </a:tcPr>
                </a:tc>
                <a:extLst>
                  <a:ext uri="{0D108BD9-81ED-4DB2-BD59-A6C34878D82A}">
                    <a16:rowId xmlns:a16="http://schemas.microsoft.com/office/drawing/2014/main" val="1565593228"/>
                  </a:ext>
                </a:extLst>
              </a:tr>
              <a:tr h="0">
                <a:tc>
                  <a:txBody>
                    <a:bodyPr/>
                    <a:lstStyle/>
                    <a:p>
                      <a:r>
                        <a:rPr lang="en-IN"/>
                        <a:t>Full Flow</a:t>
                      </a:r>
                    </a:p>
                  </a:txBody>
                  <a:tcPr anchor="ctr">
                    <a:lnL>
                      <a:noFill/>
                    </a:lnL>
                    <a:lnR>
                      <a:noFill/>
                    </a:lnR>
                    <a:lnT>
                      <a:noFill/>
                    </a:lnT>
                    <a:lnB>
                      <a:noFill/>
                    </a:lnB>
                  </a:tcPr>
                </a:tc>
                <a:tc>
                  <a:txBody>
                    <a:bodyPr/>
                    <a:lstStyle/>
                    <a:p>
                      <a:r>
                        <a:rPr lang="en-GB"/>
                        <a:t>Types message → taps Send to AI, Remind, or Diary</a:t>
                      </a:r>
                    </a:p>
                  </a:txBody>
                  <a:tcPr anchor="ctr">
                    <a:lnL>
                      <a:noFill/>
                    </a:lnL>
                    <a:lnR>
                      <a:noFill/>
                    </a:lnR>
                    <a:lnT>
                      <a:noFill/>
                    </a:lnT>
                    <a:lnB>
                      <a:noFill/>
                    </a:lnB>
                  </a:tcPr>
                </a:tc>
                <a:tc>
                  <a:txBody>
                    <a:bodyPr/>
                    <a:lstStyle/>
                    <a:p>
                      <a:r>
                        <a:rPr lang="en-GB" dirty="0"/>
                        <a:t>All actions accessible from one screen — no app switching</a:t>
                      </a:r>
                    </a:p>
                  </a:txBody>
                  <a:tcPr anchor="ctr">
                    <a:lnL>
                      <a:noFill/>
                    </a:lnL>
                    <a:lnR>
                      <a:noFill/>
                    </a:lnR>
                    <a:lnT>
                      <a:noFill/>
                    </a:lnT>
                    <a:lnB>
                      <a:noFill/>
                    </a:lnB>
                  </a:tcPr>
                </a:tc>
                <a:extLst>
                  <a:ext uri="{0D108BD9-81ED-4DB2-BD59-A6C34878D82A}">
                    <a16:rowId xmlns:a16="http://schemas.microsoft.com/office/drawing/2014/main" val="605340124"/>
                  </a:ext>
                </a:extLst>
              </a:tr>
            </a:tbl>
          </a:graphicData>
        </a:graphic>
      </p:graphicFrame>
    </p:spTree>
    <p:extLst>
      <p:ext uri="{BB962C8B-B14F-4D97-AF65-F5344CB8AC3E}">
        <p14:creationId xmlns:p14="http://schemas.microsoft.com/office/powerpoint/2010/main" val="3581315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487624"/>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50843" y="1196553"/>
            <a:ext cx="10402633" cy="5355312"/>
          </a:xfrm>
          <a:prstGeom prst="rect">
            <a:avLst/>
          </a:prstGeom>
          <a:noFill/>
        </p:spPr>
        <p:txBody>
          <a:bodyPr wrap="square" rtlCol="0">
            <a:spAutoFit/>
          </a:bodyPr>
          <a:lstStyle/>
          <a:p>
            <a:r>
              <a:rPr lang="en-IN" b="1" dirty="0"/>
              <a:t>Tech Stack</a:t>
            </a:r>
            <a:endParaRPr lang="en-IN" dirty="0"/>
          </a:p>
          <a:p>
            <a:pPr marL="285750" indent="-285750">
              <a:buFont typeface="Arial" panose="020B0604020202020204" pitchFamily="34" charset="0"/>
              <a:buChar char="•"/>
            </a:pPr>
            <a:r>
              <a:rPr lang="en-IN" b="1" dirty="0"/>
              <a:t>Frontend:</a:t>
            </a:r>
            <a:r>
              <a:rPr lang="en-IN" dirty="0"/>
              <a:t> Android (Kotlin), XML Layouts</a:t>
            </a:r>
          </a:p>
          <a:p>
            <a:pPr marL="285750" indent="-285750">
              <a:buFont typeface="Arial" panose="020B0604020202020204" pitchFamily="34" charset="0"/>
              <a:buChar char="•"/>
            </a:pPr>
            <a:r>
              <a:rPr lang="en-IN" b="1" dirty="0"/>
              <a:t>Backend:</a:t>
            </a:r>
            <a:r>
              <a:rPr lang="en-IN" dirty="0"/>
              <a:t> Node.js (manages AI intent API)</a:t>
            </a:r>
          </a:p>
          <a:p>
            <a:pPr marL="285750" indent="-285750">
              <a:buFont typeface="Arial" panose="020B0604020202020204" pitchFamily="34" charset="0"/>
              <a:buChar char="•"/>
            </a:pPr>
            <a:r>
              <a:rPr lang="en-IN" b="1" dirty="0"/>
              <a:t>Language:</a:t>
            </a:r>
            <a:r>
              <a:rPr lang="en-IN" dirty="0"/>
              <a:t> Kotlin (Android), JavaScript (server)</a:t>
            </a:r>
          </a:p>
          <a:p>
            <a:pPr marL="285750" indent="-285750">
              <a:buFont typeface="Arial" panose="020B0604020202020204" pitchFamily="34" charset="0"/>
              <a:buChar char="•"/>
            </a:pPr>
            <a:r>
              <a:rPr lang="en-IN" b="1" dirty="0"/>
              <a:t>Database:</a:t>
            </a:r>
            <a:r>
              <a:rPr lang="en-IN" dirty="0"/>
              <a:t> SQLite (local, on-device)</a:t>
            </a:r>
          </a:p>
          <a:p>
            <a:endParaRPr lang="en-GB" b="1" dirty="0"/>
          </a:p>
          <a:p>
            <a:endParaRPr lang="en-GB" b="1" dirty="0"/>
          </a:p>
          <a:p>
            <a:r>
              <a:rPr lang="en-IN" b="1" dirty="0"/>
              <a:t>AI Usage</a:t>
            </a:r>
            <a:endParaRPr lang="en-IN" dirty="0"/>
          </a:p>
          <a:p>
            <a:r>
              <a:rPr lang="en-IN" b="1" dirty="0"/>
              <a:t>Model:</a:t>
            </a:r>
            <a:r>
              <a:rPr lang="en-IN" dirty="0"/>
              <a:t> Llama 3.3 70B via </a:t>
            </a:r>
            <a:r>
              <a:rPr lang="en-IN" dirty="0" err="1"/>
              <a:t>Groq</a:t>
            </a:r>
            <a:r>
              <a:rPr lang="en-IN" dirty="0"/>
              <a:t> API</a:t>
            </a:r>
          </a:p>
          <a:p>
            <a:r>
              <a:rPr lang="en-IN" b="1" dirty="0"/>
              <a:t>APIs:</a:t>
            </a:r>
            <a:r>
              <a:rPr lang="en-IN" dirty="0"/>
              <a:t> </a:t>
            </a:r>
            <a:r>
              <a:rPr lang="en-IN" dirty="0" err="1"/>
              <a:t>groq-sdk</a:t>
            </a:r>
            <a:r>
              <a:rPr lang="en-IN" dirty="0"/>
              <a:t> (Official Node.js SDK)</a:t>
            </a:r>
          </a:p>
          <a:p>
            <a:r>
              <a:rPr lang="en-IN" b="1" dirty="0"/>
              <a:t>Implementation:</a:t>
            </a:r>
            <a:r>
              <a:rPr lang="en-IN" dirty="0"/>
              <a:t> A custom prompt-engineered Intent Extraction Layer that transforms unstructured user speech/text (e.g., "Remind me at 6pm" or "Save a task to buy groceries") into structured JSON objects for the database.</a:t>
            </a:r>
          </a:p>
          <a:p>
            <a:endParaRPr lang="en-IN" dirty="0"/>
          </a:p>
          <a:p>
            <a:r>
              <a:rPr lang="en-GB" b="1" dirty="0"/>
              <a:t>System Flow (Simple)</a:t>
            </a:r>
            <a:endParaRPr lang="en-GB" dirty="0"/>
          </a:p>
          <a:p>
            <a:r>
              <a:rPr lang="en-GB" b="1" dirty="0"/>
              <a:t>Capture:</a:t>
            </a:r>
            <a:r>
              <a:rPr lang="en-GB" dirty="0"/>
              <a:t> User types or speaks into the Assistant input field</a:t>
            </a:r>
          </a:p>
          <a:p>
            <a:r>
              <a:rPr lang="en-GB" b="1" dirty="0"/>
              <a:t>Process:</a:t>
            </a:r>
            <a:r>
              <a:rPr lang="en-GB" dirty="0"/>
              <a:t> Input is sent to the </a:t>
            </a:r>
            <a:r>
              <a:rPr lang="en-GB" dirty="0" err="1"/>
              <a:t>Groq</a:t>
            </a:r>
            <a:r>
              <a:rPr lang="en-GB" dirty="0"/>
              <a:t> AI Engine, which identifies intent — task, reminder, or chat</a:t>
            </a:r>
          </a:p>
          <a:p>
            <a:r>
              <a:rPr lang="en-GB" b="1" dirty="0"/>
              <a:t>Commit:</a:t>
            </a:r>
            <a:r>
              <a:rPr lang="en-GB" dirty="0"/>
              <a:t> Structured data is saved to SQLite on-device via </a:t>
            </a:r>
            <a:r>
              <a:rPr lang="en-GB" dirty="0" err="1"/>
              <a:t>DatabaseHelper</a:t>
            </a:r>
            <a:endParaRPr lang="en-GB" dirty="0"/>
          </a:p>
          <a:p>
            <a:r>
              <a:rPr lang="en-GB" b="1" dirty="0"/>
              <a:t>Reflect:</a:t>
            </a:r>
            <a:r>
              <a:rPr lang="en-GB" dirty="0"/>
              <a:t> Android UI updates the dashboard instantly showing new task counts and entries</a:t>
            </a:r>
          </a:p>
        </p:txBody>
      </p:sp>
    </p:spTree>
    <p:extLst>
      <p:ext uri="{BB962C8B-B14F-4D97-AF65-F5344CB8AC3E}">
        <p14:creationId xmlns:p14="http://schemas.microsoft.com/office/powerpoint/2010/main" val="56678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6" name="Rectangle 5">
            <a:extLst>
              <a:ext uri="{FF2B5EF4-FFF2-40B4-BE49-F238E27FC236}">
                <a16:creationId xmlns:a16="http://schemas.microsoft.com/office/drawing/2014/main" id="{1D3BCDB1-5BBB-4046-80E4-33F1DBADE4F8}"/>
              </a:ext>
            </a:extLst>
          </p:cNvPr>
          <p:cNvSpPr/>
          <p:nvPr/>
        </p:nvSpPr>
        <p:spPr>
          <a:xfrm>
            <a:off x="573741" y="1633728"/>
            <a:ext cx="10399059" cy="5632311"/>
          </a:xfrm>
          <a:prstGeom prst="rect">
            <a:avLst/>
          </a:prstGeom>
        </p:spPr>
        <p:txBody>
          <a:bodyPr wrap="square">
            <a:spAutoFit/>
          </a:bodyPr>
          <a:lstStyle/>
          <a:p>
            <a:pPr>
              <a:buFont typeface="Arial" panose="020B0604020202020204" pitchFamily="34" charset="0"/>
              <a:buChar char="•"/>
            </a:pPr>
            <a:r>
              <a:rPr lang="en-GB" dirty="0"/>
              <a:t>🎓 </a:t>
            </a:r>
            <a:r>
              <a:rPr lang="en-GB" b="1" dirty="0"/>
              <a:t>Student:</a:t>
            </a:r>
            <a:r>
              <a:rPr lang="en-GB" dirty="0"/>
              <a:t> </a:t>
            </a:r>
          </a:p>
          <a:p>
            <a:r>
              <a:rPr lang="en-GB" dirty="0"/>
              <a:t>	Rushing to class, remembers a deadline — says "Remind me to submit assignment at 9pm" — done in 2 seconds, no app switching</a:t>
            </a:r>
          </a:p>
          <a:p>
            <a:pPr>
              <a:buFont typeface="Arial" panose="020B0604020202020204" pitchFamily="34" charset="0"/>
              <a:buChar char="•"/>
            </a:pPr>
            <a:endParaRPr lang="en-GB" dirty="0"/>
          </a:p>
          <a:p>
            <a:pPr>
              <a:buFont typeface="Arial" panose="020B0604020202020204" pitchFamily="34" charset="0"/>
              <a:buChar char="•"/>
            </a:pPr>
            <a:r>
              <a:rPr lang="en-GB" dirty="0"/>
              <a:t>💼 </a:t>
            </a:r>
            <a:r>
              <a:rPr lang="en-GB" b="1" dirty="0"/>
              <a:t>Working Professional:</a:t>
            </a:r>
            <a:r>
              <a:rPr lang="en-GB" dirty="0"/>
              <a:t> </a:t>
            </a:r>
          </a:p>
          <a:p>
            <a:r>
              <a:rPr lang="en-GB" dirty="0"/>
              <a:t>	In a meeting, thinks of a task — types it quickly into </a:t>
            </a:r>
            <a:r>
              <a:rPr lang="en-GB" dirty="0" err="1"/>
              <a:t>LifeOS</a:t>
            </a:r>
            <a:r>
              <a:rPr lang="en-GB" dirty="0"/>
              <a:t> — saved, categorized, reminder set — all from one screen</a:t>
            </a:r>
          </a:p>
          <a:p>
            <a:pPr>
              <a:buFont typeface="Arial" panose="020B0604020202020204" pitchFamily="34" charset="0"/>
              <a:buChar char="•"/>
            </a:pPr>
            <a:endParaRPr lang="en-GB" dirty="0"/>
          </a:p>
          <a:p>
            <a:pPr>
              <a:buFont typeface="Arial" panose="020B0604020202020204" pitchFamily="34" charset="0"/>
              <a:buChar char="•"/>
            </a:pPr>
            <a:r>
              <a:rPr lang="en-GB" dirty="0"/>
              <a:t>🏠 </a:t>
            </a:r>
            <a:r>
              <a:rPr lang="en-GB" b="1" dirty="0"/>
              <a:t>Daily User:</a:t>
            </a:r>
            <a:r>
              <a:rPr lang="en-GB" dirty="0"/>
              <a:t> </a:t>
            </a:r>
          </a:p>
          <a:p>
            <a:r>
              <a:rPr lang="en-GB" dirty="0"/>
              <a:t>	Wants to track personal errands — speaks tasks hands-free while cooking — app saves and reads them back via TTS</a:t>
            </a:r>
          </a:p>
          <a:p>
            <a:pPr>
              <a:buFont typeface="Arial" panose="020B0604020202020204" pitchFamily="34" charset="0"/>
              <a:buChar char="•"/>
            </a:pPr>
            <a:endParaRPr lang="en-GB" dirty="0"/>
          </a:p>
          <a:p>
            <a:pPr>
              <a:buFont typeface="Arial" panose="020B0604020202020204" pitchFamily="34" charset="0"/>
              <a:buChar char="•"/>
            </a:pPr>
            <a:r>
              <a:rPr lang="en-GB" dirty="0"/>
              <a:t>😓 </a:t>
            </a:r>
            <a:r>
              <a:rPr lang="en-GB" b="1" dirty="0"/>
              <a:t>Overwhelmed Person:</a:t>
            </a:r>
            <a:r>
              <a:rPr lang="en-GB" dirty="0"/>
              <a:t> </a:t>
            </a:r>
          </a:p>
          <a:p>
            <a:r>
              <a:rPr lang="en-GB" dirty="0"/>
              <a:t>	Using 4 different apps daily — switches to </a:t>
            </a:r>
            <a:r>
              <a:rPr lang="en-GB" dirty="0" err="1"/>
              <a:t>LifeOS</a:t>
            </a:r>
            <a:r>
              <a:rPr lang="en-GB" dirty="0"/>
              <a:t> — one app replaces all of them</a:t>
            </a:r>
          </a:p>
          <a:p>
            <a:endParaRPr lang="en-GB" b="1" dirty="0"/>
          </a:p>
          <a:p>
            <a:r>
              <a:rPr lang="en-GB" b="1" dirty="0"/>
              <a:t>Scale Potential</a:t>
            </a:r>
            <a:endParaRPr lang="en-GB" dirty="0"/>
          </a:p>
          <a:p>
            <a:pPr>
              <a:buFont typeface="Arial" panose="020B0604020202020204" pitchFamily="34" charset="0"/>
              <a:buChar char="•"/>
            </a:pPr>
            <a:r>
              <a:rPr lang="en-GB" dirty="0"/>
              <a:t>Works fully offline — no internet needed for tasks and reminders</a:t>
            </a:r>
          </a:p>
          <a:p>
            <a:pPr>
              <a:buFont typeface="Arial" panose="020B0604020202020204" pitchFamily="34" charset="0"/>
              <a:buChar char="•"/>
            </a:pPr>
            <a:r>
              <a:rPr lang="en-GB" dirty="0"/>
              <a:t>No account, no sign-up — instant setup on any Android device</a:t>
            </a:r>
          </a:p>
          <a:p>
            <a:pPr>
              <a:buFont typeface="Arial" panose="020B0604020202020204" pitchFamily="34" charset="0"/>
              <a:buChar char="•"/>
            </a:pPr>
            <a:r>
              <a:rPr lang="en-GB" dirty="0"/>
              <a:t>SQLite scales to thousands of entries with zero lag</a:t>
            </a:r>
          </a:p>
          <a:p>
            <a:pPr>
              <a:buFont typeface="Arial" panose="020B0604020202020204" pitchFamily="34" charset="0"/>
              <a:buChar char="•"/>
            </a:pPr>
            <a:r>
              <a:rPr lang="en-GB" dirty="0"/>
              <a:t>AI backend can be swapped to any LLM without changing the Android app</a:t>
            </a:r>
          </a:p>
        </p:txBody>
      </p:sp>
    </p:spTree>
    <p:extLst>
      <p:ext uri="{BB962C8B-B14F-4D97-AF65-F5344CB8AC3E}">
        <p14:creationId xmlns:p14="http://schemas.microsoft.com/office/powerpoint/2010/main" val="2277358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6" name="Rectangle 5">
            <a:extLst>
              <a:ext uri="{FF2B5EF4-FFF2-40B4-BE49-F238E27FC236}">
                <a16:creationId xmlns:a16="http://schemas.microsoft.com/office/drawing/2014/main" id="{1D3BCDB1-5BBB-4046-80E4-33F1DBADE4F8}"/>
              </a:ext>
            </a:extLst>
          </p:cNvPr>
          <p:cNvSpPr/>
          <p:nvPr/>
        </p:nvSpPr>
        <p:spPr>
          <a:xfrm>
            <a:off x="573741" y="1633728"/>
            <a:ext cx="10399059" cy="2677656"/>
          </a:xfrm>
          <a:prstGeom prst="rect">
            <a:avLst/>
          </a:prstGeom>
        </p:spPr>
        <p:txBody>
          <a:bodyPr wrap="square">
            <a:spAutoFit/>
          </a:bodyPr>
          <a:lstStyle/>
          <a:p>
            <a:r>
              <a:rPr lang="en-GB" sz="2400" b="1" dirty="0"/>
              <a:t>Scale Potential</a:t>
            </a:r>
            <a:endParaRPr lang="en-GB" sz="2400" dirty="0"/>
          </a:p>
          <a:p>
            <a:pPr>
              <a:buFont typeface="Arial" panose="020B0604020202020204" pitchFamily="34" charset="0"/>
              <a:buChar char="•"/>
            </a:pPr>
            <a:endParaRPr lang="en-GB" dirty="0"/>
          </a:p>
          <a:p>
            <a:pPr>
              <a:buFont typeface="Arial" panose="020B0604020202020204" pitchFamily="34" charset="0"/>
              <a:buChar char="•"/>
            </a:pPr>
            <a:r>
              <a:rPr lang="en-GB" dirty="0"/>
              <a:t>Works fully offline — no internet needed for tasks and reminders</a:t>
            </a:r>
          </a:p>
          <a:p>
            <a:pPr>
              <a:buFont typeface="Arial" panose="020B0604020202020204" pitchFamily="34" charset="0"/>
              <a:buChar char="•"/>
            </a:pPr>
            <a:endParaRPr lang="en-GB" dirty="0"/>
          </a:p>
          <a:p>
            <a:pPr>
              <a:buFont typeface="Arial" panose="020B0604020202020204" pitchFamily="34" charset="0"/>
              <a:buChar char="•"/>
            </a:pPr>
            <a:r>
              <a:rPr lang="en-GB" dirty="0"/>
              <a:t>No account, no sign-up — instant setup on any Android device</a:t>
            </a:r>
          </a:p>
          <a:p>
            <a:pPr>
              <a:buFont typeface="Arial" panose="020B0604020202020204" pitchFamily="34" charset="0"/>
              <a:buChar char="•"/>
            </a:pPr>
            <a:endParaRPr lang="en-GB" dirty="0"/>
          </a:p>
          <a:p>
            <a:pPr>
              <a:buFont typeface="Arial" panose="020B0604020202020204" pitchFamily="34" charset="0"/>
              <a:buChar char="•"/>
            </a:pPr>
            <a:r>
              <a:rPr lang="en-GB" dirty="0"/>
              <a:t>SQLite scales to thousands of entries with zero lag</a:t>
            </a:r>
          </a:p>
          <a:p>
            <a:pPr>
              <a:buFont typeface="Arial" panose="020B0604020202020204" pitchFamily="34" charset="0"/>
              <a:buChar char="•"/>
            </a:pPr>
            <a:endParaRPr lang="en-GB" dirty="0"/>
          </a:p>
          <a:p>
            <a:pPr>
              <a:buFont typeface="Arial" panose="020B0604020202020204" pitchFamily="34" charset="0"/>
              <a:buChar char="•"/>
            </a:pPr>
            <a:r>
              <a:rPr lang="en-GB" dirty="0"/>
              <a:t>AI backend can be swapped to any LLM without changing the Android app</a:t>
            </a:r>
          </a:p>
        </p:txBody>
      </p:sp>
    </p:spTree>
    <p:extLst>
      <p:ext uri="{BB962C8B-B14F-4D97-AF65-F5344CB8AC3E}">
        <p14:creationId xmlns:p14="http://schemas.microsoft.com/office/powerpoint/2010/main" val="2579345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33318" y="2298995"/>
            <a:ext cx="10725363" cy="2862322"/>
          </a:xfrm>
          <a:prstGeom prst="rect">
            <a:avLst/>
          </a:prstGeom>
          <a:noFill/>
        </p:spPr>
        <p:txBody>
          <a:bodyPr wrap="square" rtlCol="0">
            <a:spAutoFit/>
          </a:bodyPr>
          <a:lstStyle/>
          <a:p>
            <a:r>
              <a:rPr lang="en-GB" b="1" dirty="0"/>
              <a:t>MOAT 1 — Privacy by Architecture</a:t>
            </a:r>
            <a:r>
              <a:rPr lang="en-GB" dirty="0"/>
              <a:t> </a:t>
            </a:r>
          </a:p>
          <a:p>
            <a:r>
              <a:rPr lang="en-GB" dirty="0"/>
              <a:t>	Every competing app (</a:t>
            </a:r>
            <a:r>
              <a:rPr lang="en-GB" dirty="0" err="1"/>
              <a:t>Todoist</a:t>
            </a:r>
            <a:r>
              <a:rPr lang="en-GB" dirty="0"/>
              <a:t>, Notion, Google Tasks) stores your data on their servers. </a:t>
            </a:r>
            <a:r>
              <a:rPr lang="en-GB" dirty="0" err="1"/>
              <a:t>LifeOS</a:t>
            </a:r>
            <a:r>
              <a:rPr lang="en-GB" dirty="0"/>
              <a:t> stores everything in SQLite on your device. No account, no cloud, no data selling. This is not a feature — it's a structural decision that competitors cannot easily copy without rebuilding their entire backend.</a:t>
            </a:r>
          </a:p>
          <a:p>
            <a:endParaRPr lang="en-GB" b="1" dirty="0"/>
          </a:p>
          <a:p>
            <a:endParaRPr lang="en-GB" b="1" dirty="0"/>
          </a:p>
          <a:p>
            <a:r>
              <a:rPr lang="en-GB" b="1" dirty="0"/>
              <a:t>MOAT 2 — Zero-Friction Natural Language as the Only UI</a:t>
            </a:r>
            <a:r>
              <a:rPr lang="en-GB" dirty="0"/>
              <a:t> </a:t>
            </a:r>
          </a:p>
          <a:p>
            <a:r>
              <a:rPr lang="en-GB" dirty="0"/>
              <a:t>	Most productivity apps still require forms, dropdowns, and menus. </a:t>
            </a:r>
            <a:r>
              <a:rPr lang="en-GB" dirty="0" err="1"/>
              <a:t>LifeOS</a:t>
            </a:r>
            <a:r>
              <a:rPr lang="en-GB" dirty="0"/>
              <a:t> replaces all of that with one input line — type or speak naturally, AI handles the rest. The lower the friction, the higher the habit retention. Users who don't need to "learn" an app will always come back to it.</a:t>
            </a:r>
          </a:p>
        </p:txBody>
      </p:sp>
    </p:spTree>
    <p:extLst>
      <p:ext uri="{BB962C8B-B14F-4D97-AF65-F5344CB8AC3E}">
        <p14:creationId xmlns:p14="http://schemas.microsoft.com/office/powerpoint/2010/main" val="1746425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5570547" cy="923330"/>
          </a:xfrm>
          <a:prstGeom prst="rect">
            <a:avLst/>
          </a:prstGeom>
          <a:noFill/>
        </p:spPr>
        <p:txBody>
          <a:bodyPr wrap="square" rtlCol="0">
            <a:spAutoFit/>
          </a:bodyPr>
          <a:lstStyle/>
          <a:p>
            <a:r>
              <a:rPr lang="en-IN" dirty="0">
                <a:hlinkClick r:id="rId3"/>
              </a:rPr>
              <a:t>https://github.com/jenniyoo17/LifeOS</a:t>
            </a:r>
            <a:br>
              <a:rPr lang="en-IN" dirty="0"/>
            </a:br>
            <a:br>
              <a:rPr lang="en-IN" dirty="0"/>
            </a:br>
            <a:endParaRPr lang="en-IN" dirty="0"/>
          </a:p>
        </p:txBody>
      </p:sp>
    </p:spTree>
    <p:extLst>
      <p:ext uri="{BB962C8B-B14F-4D97-AF65-F5344CB8AC3E}">
        <p14:creationId xmlns:p14="http://schemas.microsoft.com/office/powerpoint/2010/main" val="1098279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1212</Words>
  <Application>Microsoft Office PowerPoint</Application>
  <PresentationFormat>Widescreen</PresentationFormat>
  <Paragraphs>129</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Berlin Sans FB Demi</vt:lpstr>
      <vt:lpstr>Calibri</vt:lpstr>
      <vt:lpstr>Calibri Light</vt:lpstr>
      <vt:lpstr>Courier New</vt:lpstr>
      <vt:lpstr>SamsungOne 800</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User</cp:lastModifiedBy>
  <cp:revision>29</cp:revision>
  <dcterms:created xsi:type="dcterms:W3CDTF">2026-04-27T09:11:02Z</dcterms:created>
  <dcterms:modified xsi:type="dcterms:W3CDTF">2026-05-08T19:05:14Z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